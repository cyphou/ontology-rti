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206240" cy="420624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840480"/>
            <a:ext cx="4389120" cy="4389120"/>
          </a:xfrm>
          <a:prstGeom prst="ellipse">
            <a:avLst/>
          </a:prstGeom>
          <a:solidFill>
            <a:srgbClr val="2DD4BF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554480"/>
            <a:ext cx="1051560" cy="1051560"/>
          </a:xfrm>
          <a:prstGeom prst="ellipse">
            <a:avLst/>
          </a:prstGeom>
          <a:solidFill>
            <a:srgbClr val="1E2A38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365" y="1848917"/>
            <a:ext cx="462686" cy="462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FABRIC RAYFIN APPS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6928" y="310896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 Wind Twin</a:t>
            </a:r>
            <a:endParaRPr lang="en-US" sz="5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 Center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566928" y="489204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ontology-grounded, 3D digital-twin command center for wind fleets — built on Microsoft Fabric, and fallback-safe by design.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66928" y="5806440"/>
            <a:ext cx="2585923" cy="402336"/>
          </a:xfrm>
          <a:prstGeom prst="roundRect">
            <a:avLst>
              <a:gd name="adj" fmla="val 18182"/>
            </a:avLst>
          </a:prstGeom>
          <a:solidFill>
            <a:srgbClr val="1E2A3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806440"/>
            <a:ext cx="24396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19 · Vite · Three.js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54019" y="5806440"/>
            <a:ext cx="1689811" cy="402336"/>
          </a:xfrm>
          <a:prstGeom prst="roundRect">
            <a:avLst>
              <a:gd name="adj" fmla="val 18182"/>
            </a:avLst>
          </a:prstGeom>
          <a:solidFill>
            <a:srgbClr val="1E2A38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27171" y="5806440"/>
            <a:ext cx="15435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Fabric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244998" y="5806440"/>
            <a:ext cx="1420978" cy="402336"/>
          </a:xfrm>
          <a:prstGeom prst="roundRect">
            <a:avLst>
              <a:gd name="adj" fmla="val 18182"/>
            </a:avLst>
          </a:prstGeom>
          <a:solidFill>
            <a:srgbClr val="1E2A3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18150" y="5806440"/>
            <a:ext cx="127467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Fallback-safe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867144" y="5806440"/>
            <a:ext cx="1779422" cy="402336"/>
          </a:xfrm>
          <a:prstGeom prst="roundRect">
            <a:avLst>
              <a:gd name="adj" fmla="val 18182"/>
            </a:avLst>
          </a:prstGeom>
          <a:solidFill>
            <a:srgbClr val="1E2A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40296" y="5806440"/>
            <a:ext cx="16331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Reusable template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1274552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Fabric Rayfin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 operations live in disconnected tools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943600" cy="1417320"/>
          </a:xfrm>
          <a:prstGeom prst="roundRect">
            <a:avLst>
              <a:gd name="adj" fmla="val 7097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929384"/>
            <a:ext cx="64008" cy="1216152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217420"/>
            <a:ext cx="640080" cy="640080"/>
          </a:xfrm>
          <a:prstGeom prst="ellipse">
            <a:avLst/>
          </a:prstGeom>
          <a:solidFill>
            <a:srgbClr val="1E2A38"/>
          </a:solidFill>
          <a:ln w="15875">
            <a:solidFill>
              <a:srgbClr val="FB718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396642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965960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Fragmented context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645920" y="2304288"/>
            <a:ext cx="470001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Telemetry, alarms, asset topology and maintenance history sit in separate systems.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3401568"/>
            <a:ext cx="5943600" cy="1417320"/>
          </a:xfrm>
          <a:prstGeom prst="roundRect">
            <a:avLst>
              <a:gd name="adj" fmla="val 7097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" y="3502152"/>
            <a:ext cx="64008" cy="12161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3790188"/>
            <a:ext cx="640080" cy="640080"/>
          </a:xfrm>
          <a:prstGeom prst="ellipse">
            <a:avLst/>
          </a:prstGeom>
          <a:solidFill>
            <a:srgbClr val="1E2A38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94" y="3969410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45920" y="3538728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triage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645920" y="3877056"/>
            <a:ext cx="470001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stitch the story by hand — losing time when every minute of downtime costs energy.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66928" y="4974336"/>
            <a:ext cx="5943600" cy="1417320"/>
          </a:xfrm>
          <a:prstGeom prst="roundRect">
            <a:avLst>
              <a:gd name="adj" fmla="val 7097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6928" y="5074920"/>
            <a:ext cx="64008" cy="1216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8" name="Shape 14"/>
          <p:cNvSpPr/>
          <p:nvPr/>
        </p:nvSpPr>
        <p:spPr>
          <a:xfrm>
            <a:off x="804672" y="5362956"/>
            <a:ext cx="640080" cy="640080"/>
          </a:xfrm>
          <a:prstGeom prst="ellipse">
            <a:avLst/>
          </a:prstGeom>
          <a:solidFill>
            <a:srgbClr val="1E2A38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5542178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5111496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Inconsistent dispatch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645920" y="5449824"/>
            <a:ext cx="470001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shared, grounded view, who-to-send and what-to-fix decisions vary by operator.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858000" y="1828800"/>
            <a:ext cx="4754880" cy="4562856"/>
          </a:xfrm>
          <a:prstGeom prst="roundRect">
            <a:avLst>
              <a:gd name="adj" fmla="val 2204"/>
            </a:avLst>
          </a:prstGeom>
          <a:solidFill>
            <a:srgbClr val="1E2A38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132320" y="2103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GOAL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7132320" y="23957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grounded command center</a:t>
            </a:r>
            <a:endParaRPr lang="en-US" sz="2100" dirty="0"/>
          </a:p>
        </p:txBody>
      </p:sp>
      <p:sp>
        <p:nvSpPr>
          <p:cNvPr id="25" name="Text 20"/>
          <p:cNvSpPr/>
          <p:nvPr/>
        </p:nvSpPr>
        <p:spPr>
          <a:xfrm>
            <a:off x="7178040" y="3154680"/>
            <a:ext cx="4160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7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whole fleet, live, on one 3D map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7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any turbine to its component &amp; device signals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7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cause on the ontology graph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7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the right technician with evidence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7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plain language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7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 mission report for handoff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11274552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Fabric Rayfin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RAYFIN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Fabric Apps, natively hosted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810512"/>
            <a:ext cx="6035040" cy="1024128"/>
          </a:xfrm>
          <a:prstGeom prst="roundRect">
            <a:avLst>
              <a:gd name="adj" fmla="val 9821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911096"/>
            <a:ext cx="64008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02536"/>
            <a:ext cx="640080" cy="640080"/>
          </a:xfrm>
          <a:prstGeom prst="ellipse">
            <a:avLst/>
          </a:prstGeom>
          <a:solidFill>
            <a:srgbClr val="1E2A38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181758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947672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web stack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645920" y="2286000"/>
            <a:ext cx="4791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+ Three.js + Vitest — a real SPA with a 3D engine, not a dashboard tile.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2962656"/>
            <a:ext cx="6035040" cy="1024128"/>
          </a:xfrm>
          <a:prstGeom prst="roundRect">
            <a:avLst>
              <a:gd name="adj" fmla="val 9821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" y="3063240"/>
            <a:ext cx="64008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3154680"/>
            <a:ext cx="640080" cy="640080"/>
          </a:xfrm>
          <a:prstGeom prst="ellipse">
            <a:avLst/>
          </a:prstGeom>
          <a:solidFill>
            <a:srgbClr val="1E2A38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94" y="3333902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45920" y="3099816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Runs inside Fabric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645920" y="3438144"/>
            <a:ext cx="4791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is hosted by the Fabric shell; a postMessage host bridge wires it to workspace data.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66928" y="4114800"/>
            <a:ext cx="6035040" cy="1024128"/>
          </a:xfrm>
          <a:prstGeom prst="roundRect">
            <a:avLst>
              <a:gd name="adj" fmla="val 9821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6928" y="4215384"/>
            <a:ext cx="64008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8" name="Shape 14"/>
          <p:cNvSpPr/>
          <p:nvPr/>
        </p:nvSpPr>
        <p:spPr>
          <a:xfrm>
            <a:off x="804672" y="4306824"/>
            <a:ext cx="640080" cy="640080"/>
          </a:xfrm>
          <a:prstGeom prst="ellipse">
            <a:avLst/>
          </a:prstGeom>
          <a:solidFill>
            <a:srgbClr val="1E2A38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4486046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4251960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Provisioned by the Rayfin CLI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645920" y="4590288"/>
            <a:ext cx="4791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rayfin writes workspace / item / tenant IDs and deploys the static app to Fabric.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66928" y="5266944"/>
            <a:ext cx="6035040" cy="1024128"/>
          </a:xfrm>
          <a:prstGeom prst="roundRect">
            <a:avLst>
              <a:gd name="adj" fmla="val 9821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66928" y="5367528"/>
            <a:ext cx="64008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4" name="Shape 19"/>
          <p:cNvSpPr/>
          <p:nvPr/>
        </p:nvSpPr>
        <p:spPr>
          <a:xfrm>
            <a:off x="804672" y="5458968"/>
            <a:ext cx="640080" cy="640080"/>
          </a:xfrm>
          <a:prstGeom prst="ellipse">
            <a:avLst/>
          </a:prstGeom>
          <a:solidFill>
            <a:srgbClr val="1E2A38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894" y="5638190"/>
            <a:ext cx="281635" cy="28163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45920" y="5404104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Fallback-safe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1645920" y="5742432"/>
            <a:ext cx="4791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connection? It runs on synthetic telemetry and a local engine, then lights up real data.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7086600" y="1828800"/>
            <a:ext cx="4526280" cy="4562856"/>
          </a:xfrm>
          <a:prstGeom prst="roundRect">
            <a:avLst>
              <a:gd name="adj" fmla="val 2222"/>
            </a:avLst>
          </a:prstGeom>
          <a:solidFill>
            <a:srgbClr val="1E2A38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7360920" y="20848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CONNECTS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406640" y="2514600"/>
            <a:ext cx="3886200" cy="749808"/>
          </a:xfrm>
          <a:prstGeom prst="roundRect">
            <a:avLst>
              <a:gd name="adj" fmla="val 9756"/>
            </a:avLst>
          </a:prstGeom>
          <a:solidFill>
            <a:srgbClr val="1E2A3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479792" y="2514600"/>
            <a:ext cx="3739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Rayfin App  ·  React + Three.js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9349740" y="3282696"/>
            <a:ext cx="0" cy="384048"/>
          </a:xfrm>
          <a:prstGeom prst="line">
            <a:avLst/>
          </a:prstGeom>
          <a:noFill/>
          <a:ln w="25400">
            <a:solidFill>
              <a:srgbClr val="97A6B8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7406640" y="3666744"/>
            <a:ext cx="3886200" cy="749808"/>
          </a:xfrm>
          <a:prstGeom prst="roundRect">
            <a:avLst>
              <a:gd name="adj" fmla="val 9756"/>
            </a:avLst>
          </a:prstGeom>
          <a:solidFill>
            <a:srgbClr val="1E2A38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7479792" y="3666744"/>
            <a:ext cx="3739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Fabric Host Bridge  ·  postMessage</a:t>
            </a:r>
            <a:endParaRPr lang="en-US" sz="1250" dirty="0"/>
          </a:p>
        </p:txBody>
      </p:sp>
      <p:sp>
        <p:nvSpPr>
          <p:cNvPr id="35" name="Shape 29"/>
          <p:cNvSpPr/>
          <p:nvPr/>
        </p:nvSpPr>
        <p:spPr>
          <a:xfrm>
            <a:off x="9349740" y="4434840"/>
            <a:ext cx="0" cy="384048"/>
          </a:xfrm>
          <a:prstGeom prst="line">
            <a:avLst/>
          </a:prstGeom>
          <a:noFill/>
          <a:ln w="25400">
            <a:solidFill>
              <a:srgbClr val="97A6B8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7406640" y="4818888"/>
            <a:ext cx="3886200" cy="749808"/>
          </a:xfrm>
          <a:prstGeom prst="roundRect">
            <a:avLst>
              <a:gd name="adj" fmla="val 9756"/>
            </a:avLst>
          </a:prstGeom>
          <a:solidFill>
            <a:srgbClr val="1E2A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7479792" y="4818888"/>
            <a:ext cx="3739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Fabric Workspace</a:t>
            </a:r>
            <a:endParaRPr lang="en-US" sz="1250" dirty="0"/>
          </a:p>
        </p:txBody>
      </p:sp>
      <p:sp>
        <p:nvSpPr>
          <p:cNvPr id="38" name="Text 32"/>
          <p:cNvSpPr/>
          <p:nvPr/>
        </p:nvSpPr>
        <p:spPr>
          <a:xfrm>
            <a:off x="7406640" y="598932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runs locally (dev) and inside the Fabric portal — append devUri to preview live changes in the host.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11274552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Fabric Rayfin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APP AT A GLANCE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command center, eight capabilities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558034" cy="1965960"/>
          </a:xfrm>
          <a:prstGeom prst="roundRect">
            <a:avLst>
              <a:gd name="adj" fmla="val 5116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975104"/>
            <a:ext cx="64008" cy="176479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112264"/>
            <a:ext cx="658368" cy="658368"/>
          </a:xfrm>
          <a:prstGeom prst="ellipse">
            <a:avLst/>
          </a:prstGeom>
          <a:solidFill>
            <a:srgbClr val="1E2A38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" y="2296607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91056" y="2112264"/>
            <a:ext cx="13693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Fleet map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2898648"/>
            <a:ext cx="204597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multi-site 3D geospatial map.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99282" y="1874520"/>
            <a:ext cx="2558034" cy="1965960"/>
          </a:xfrm>
          <a:prstGeom prst="roundRect">
            <a:avLst>
              <a:gd name="adj" fmla="val 5116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99282" y="1975104"/>
            <a:ext cx="64008" cy="176479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Shape 9"/>
          <p:cNvSpPr/>
          <p:nvPr/>
        </p:nvSpPr>
        <p:spPr>
          <a:xfrm>
            <a:off x="3637026" y="2112264"/>
            <a:ext cx="658368" cy="658368"/>
          </a:xfrm>
          <a:prstGeom prst="ellipse">
            <a:avLst/>
          </a:prstGeom>
          <a:solidFill>
            <a:srgbClr val="1E2A38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369" y="2296607"/>
            <a:ext cx="289682" cy="2896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23410" y="2112264"/>
            <a:ext cx="13693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twin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655314" y="2898648"/>
            <a:ext cx="204597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Per-turbine component &amp; device diagnostics.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31636" y="1874520"/>
            <a:ext cx="2558034" cy="1965960"/>
          </a:xfrm>
          <a:prstGeom prst="roundRect">
            <a:avLst>
              <a:gd name="adj" fmla="val 5116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31636" y="1975104"/>
            <a:ext cx="64008" cy="176479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Shape 14"/>
          <p:cNvSpPr/>
          <p:nvPr/>
        </p:nvSpPr>
        <p:spPr>
          <a:xfrm>
            <a:off x="6469380" y="2112264"/>
            <a:ext cx="658368" cy="658368"/>
          </a:xfrm>
          <a:prstGeom prst="ellipse">
            <a:avLst/>
          </a:prstGeom>
          <a:solidFill>
            <a:srgbClr val="1E2A38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723" y="2296607"/>
            <a:ext cx="289682" cy="28968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255764" y="2112264"/>
            <a:ext cx="13693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Ontology graph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487668" y="2898648"/>
            <a:ext cx="204597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asset links and dependencies.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063990" y="1874520"/>
            <a:ext cx="2558034" cy="1965960"/>
          </a:xfrm>
          <a:prstGeom prst="roundRect">
            <a:avLst>
              <a:gd name="adj" fmla="val 5116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063990" y="1975104"/>
            <a:ext cx="64008" cy="176479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4" name="Shape 19"/>
          <p:cNvSpPr/>
          <p:nvPr/>
        </p:nvSpPr>
        <p:spPr>
          <a:xfrm>
            <a:off x="9301734" y="2112264"/>
            <a:ext cx="658368" cy="658368"/>
          </a:xfrm>
          <a:prstGeom prst="ellipse">
            <a:avLst/>
          </a:prstGeom>
          <a:solidFill>
            <a:srgbClr val="1E2A38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077" y="2296607"/>
            <a:ext cx="289682" cy="28968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088118" y="2112264"/>
            <a:ext cx="13693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9320022" y="2898648"/>
            <a:ext cx="204597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deltas and the power curve.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66928" y="4096512"/>
            <a:ext cx="2558034" cy="1965960"/>
          </a:xfrm>
          <a:prstGeom prst="roundRect">
            <a:avLst>
              <a:gd name="adj" fmla="val 5116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66928" y="4197096"/>
            <a:ext cx="64008" cy="176479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0" name="Shape 24"/>
          <p:cNvSpPr/>
          <p:nvPr/>
        </p:nvSpPr>
        <p:spPr>
          <a:xfrm>
            <a:off x="804672" y="4334256"/>
            <a:ext cx="658368" cy="658368"/>
          </a:xfrm>
          <a:prstGeom prst="ellipse">
            <a:avLst/>
          </a:prstGeom>
          <a:solidFill>
            <a:srgbClr val="1E2A38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015" y="4518599"/>
            <a:ext cx="289682" cy="28968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591056" y="4334256"/>
            <a:ext cx="13693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Dispatch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822960" y="5120640"/>
            <a:ext cx="204597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&amp; assign the right technician.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3399282" y="4096512"/>
            <a:ext cx="2558034" cy="1965960"/>
          </a:xfrm>
          <a:prstGeom prst="roundRect">
            <a:avLst>
              <a:gd name="adj" fmla="val 5116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399282" y="4197096"/>
            <a:ext cx="64008" cy="176479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6" name="Shape 29"/>
          <p:cNvSpPr/>
          <p:nvPr/>
        </p:nvSpPr>
        <p:spPr>
          <a:xfrm>
            <a:off x="3637026" y="4334256"/>
            <a:ext cx="658368" cy="658368"/>
          </a:xfrm>
          <a:prstGeom prst="ellipse">
            <a:avLst/>
          </a:prstGeom>
          <a:solidFill>
            <a:srgbClr val="1E2A38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1369" y="4518599"/>
            <a:ext cx="289682" cy="28968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423410" y="4334256"/>
            <a:ext cx="13693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Fabric IQ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3655314" y="5120640"/>
            <a:ext cx="204597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Natural-language, grounded answers.</a:t>
            </a:r>
            <a:endParaRPr lang="en-US" sz="1150" dirty="0"/>
          </a:p>
        </p:txBody>
      </p:sp>
      <p:sp>
        <p:nvSpPr>
          <p:cNvPr id="40" name="Shape 32"/>
          <p:cNvSpPr/>
          <p:nvPr/>
        </p:nvSpPr>
        <p:spPr>
          <a:xfrm>
            <a:off x="6231636" y="4096512"/>
            <a:ext cx="2558034" cy="1965960"/>
          </a:xfrm>
          <a:prstGeom prst="roundRect">
            <a:avLst>
              <a:gd name="adj" fmla="val 5116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231636" y="4197096"/>
            <a:ext cx="64008" cy="176479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2" name="Shape 34"/>
          <p:cNvSpPr/>
          <p:nvPr/>
        </p:nvSpPr>
        <p:spPr>
          <a:xfrm>
            <a:off x="6469380" y="4334256"/>
            <a:ext cx="658368" cy="658368"/>
          </a:xfrm>
          <a:prstGeom prst="ellipse">
            <a:avLst/>
          </a:prstGeom>
          <a:solidFill>
            <a:srgbClr val="1E2A38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3723" y="4518599"/>
            <a:ext cx="289682" cy="289682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7255764" y="4334256"/>
            <a:ext cx="13693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Mission report</a:t>
            </a:r>
            <a:endParaRPr lang="en-US" sz="1450" dirty="0"/>
          </a:p>
        </p:txBody>
      </p:sp>
      <p:sp>
        <p:nvSpPr>
          <p:cNvPr id="45" name="Text 36"/>
          <p:cNvSpPr/>
          <p:nvPr/>
        </p:nvSpPr>
        <p:spPr>
          <a:xfrm>
            <a:off x="6487668" y="5120640"/>
            <a:ext cx="204597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evidence &amp; handoff.</a:t>
            </a:r>
            <a:endParaRPr lang="en-US" sz="1150" dirty="0"/>
          </a:p>
        </p:txBody>
      </p:sp>
      <p:sp>
        <p:nvSpPr>
          <p:cNvPr id="46" name="Shape 37"/>
          <p:cNvSpPr/>
          <p:nvPr/>
        </p:nvSpPr>
        <p:spPr>
          <a:xfrm>
            <a:off x="9063990" y="4096512"/>
            <a:ext cx="2558034" cy="1965960"/>
          </a:xfrm>
          <a:prstGeom prst="roundRect">
            <a:avLst>
              <a:gd name="adj" fmla="val 5116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9063990" y="4197096"/>
            <a:ext cx="64008" cy="176479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8" name="Shape 39"/>
          <p:cNvSpPr/>
          <p:nvPr/>
        </p:nvSpPr>
        <p:spPr>
          <a:xfrm>
            <a:off x="9301734" y="4334256"/>
            <a:ext cx="658368" cy="658368"/>
          </a:xfrm>
          <a:prstGeom prst="ellipse">
            <a:avLst/>
          </a:prstGeom>
          <a:solidFill>
            <a:srgbClr val="1E2A38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6077" y="4518599"/>
            <a:ext cx="289682" cy="289682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10088118" y="4334256"/>
            <a:ext cx="13693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or simulated</a:t>
            </a:r>
            <a:endParaRPr lang="en-US" sz="1450" dirty="0"/>
          </a:p>
        </p:txBody>
      </p:sp>
      <p:sp>
        <p:nvSpPr>
          <p:cNvPr id="51" name="Text 41"/>
          <p:cNvSpPr/>
          <p:nvPr/>
        </p:nvSpPr>
        <p:spPr>
          <a:xfrm>
            <a:off x="9320022" y="5120640"/>
            <a:ext cx="204597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telemetry, or synthetic fallback.</a:t>
            </a:r>
            <a:endParaRPr lang="en-US" sz="1150" dirty="0"/>
          </a:p>
        </p:txBody>
      </p:sp>
      <p:sp>
        <p:nvSpPr>
          <p:cNvPr id="52" name="Text 42"/>
          <p:cNvSpPr/>
          <p:nvPr/>
        </p:nvSpPr>
        <p:spPr>
          <a:xfrm>
            <a:off x="11274552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  <p:sp>
        <p:nvSpPr>
          <p:cNvPr id="53" name="Text 43"/>
          <p:cNvSpPr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Fabric Rayfin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Front-end views over Fabric backends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394960" y="169164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E2A3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68112" y="1691640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99048" y="2167128"/>
            <a:ext cx="0" cy="310896"/>
          </a:xfrm>
          <a:prstGeom prst="line">
            <a:avLst/>
          </a:prstGeom>
          <a:noFill/>
          <a:ln w="25400">
            <a:solidFill>
              <a:srgbClr val="97A6B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011680" y="2542032"/>
            <a:ext cx="8183880" cy="841248"/>
          </a:xfrm>
          <a:prstGeom prst="roundRect">
            <a:avLst>
              <a:gd name="adj" fmla="val 11957"/>
            </a:avLst>
          </a:prstGeom>
          <a:solidFill>
            <a:srgbClr val="1E2A38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94560" y="265176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Rayfin 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77640" y="265176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7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· Digital Twin · Graph · Dispatch · Ask IQ · Analytics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99048" y="3401568"/>
            <a:ext cx="0" cy="310896"/>
          </a:xfrm>
          <a:prstGeom prst="line">
            <a:avLst/>
          </a:prstGeom>
          <a:noFill/>
          <a:ln w="25400">
            <a:solidFill>
              <a:srgbClr val="97A6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06240" y="3730752"/>
            <a:ext cx="3794760" cy="457200"/>
          </a:xfrm>
          <a:prstGeom prst="roundRect">
            <a:avLst>
              <a:gd name="adj" fmla="val 16000"/>
            </a:avLst>
          </a:prstGeom>
          <a:solidFill>
            <a:srgbClr val="1E2A38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9392" y="3730752"/>
            <a:ext cx="3648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Fabric Host Bridge  ·  postMessage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99048" y="4206240"/>
            <a:ext cx="0" cy="292608"/>
          </a:xfrm>
          <a:prstGeom prst="line">
            <a:avLst/>
          </a:prstGeom>
          <a:noFill/>
          <a:ln w="25400">
            <a:solidFill>
              <a:srgbClr val="97A6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6928" y="4526280"/>
            <a:ext cx="2050085" cy="1234440"/>
          </a:xfrm>
          <a:prstGeom prst="roundRect">
            <a:avLst>
              <a:gd name="adj" fmla="val 8148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299362" y="4672584"/>
            <a:ext cx="585216" cy="585216"/>
          </a:xfrm>
          <a:prstGeom prst="ellipse">
            <a:avLst/>
          </a:prstGeom>
          <a:solidFill>
            <a:srgbClr val="1E2A38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223" y="4836444"/>
            <a:ext cx="257495" cy="25749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21792" y="5276088"/>
            <a:ext cx="19403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RTI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1792" y="5513832"/>
            <a:ext cx="19403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Eventhouse / KQL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818181" y="4526280"/>
            <a:ext cx="2050085" cy="1234440"/>
          </a:xfrm>
          <a:prstGeom prst="roundRect">
            <a:avLst>
              <a:gd name="adj" fmla="val 8148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550615" y="4672584"/>
            <a:ext cx="585216" cy="585216"/>
          </a:xfrm>
          <a:prstGeom prst="ellipse">
            <a:avLst/>
          </a:prstGeom>
          <a:solidFill>
            <a:srgbClr val="1E2A38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476" y="4836444"/>
            <a:ext cx="257495" cy="25749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873045" y="5276088"/>
            <a:ext cx="19403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Model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2873045" y="5513832"/>
            <a:ext cx="19403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/ DAX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069434" y="4526280"/>
            <a:ext cx="2050085" cy="1234440"/>
          </a:xfrm>
          <a:prstGeom prst="roundRect">
            <a:avLst>
              <a:gd name="adj" fmla="val 8148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801868" y="4672584"/>
            <a:ext cx="585216" cy="585216"/>
          </a:xfrm>
          <a:prstGeom prst="ellipse">
            <a:avLst/>
          </a:prstGeom>
          <a:solidFill>
            <a:srgbClr val="1E2A38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728" y="4836444"/>
            <a:ext cx="257495" cy="25749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124298" y="5276088"/>
            <a:ext cx="19403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Ontology + Graph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124298" y="5513832"/>
            <a:ext cx="19403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7320686" y="4526280"/>
            <a:ext cx="2050085" cy="1234440"/>
          </a:xfrm>
          <a:prstGeom prst="roundRect">
            <a:avLst>
              <a:gd name="adj" fmla="val 8148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8053121" y="4672584"/>
            <a:ext cx="585216" cy="585216"/>
          </a:xfrm>
          <a:prstGeom prst="ellipse">
            <a:avLst/>
          </a:prstGeom>
          <a:solidFill>
            <a:srgbClr val="1E2A38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981" y="4836444"/>
            <a:ext cx="257495" cy="257495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375550" y="5276088"/>
            <a:ext cx="19403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Agent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7375550" y="5513832"/>
            <a:ext cx="19403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Q&amp;A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9571939" y="4526280"/>
            <a:ext cx="2050085" cy="1234440"/>
          </a:xfrm>
          <a:prstGeom prst="roundRect">
            <a:avLst>
              <a:gd name="adj" fmla="val 8148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10304374" y="4672584"/>
            <a:ext cx="585216" cy="585216"/>
          </a:xfrm>
          <a:prstGeom prst="ellipse">
            <a:avLst/>
          </a:prstGeom>
          <a:solidFill>
            <a:srgbClr val="1E2A38"/>
          </a:solidFill>
          <a:ln w="15875">
            <a:solidFill>
              <a:srgbClr val="FB7185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8234" y="4836444"/>
            <a:ext cx="257495" cy="257495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626803" y="5276088"/>
            <a:ext cx="19403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TurbineDevice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9626803" y="5513832"/>
            <a:ext cx="19403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Writeback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566928" y="5870448"/>
            <a:ext cx="11055096" cy="512064"/>
          </a:xfrm>
          <a:prstGeom prst="roundRect">
            <a:avLst>
              <a:gd name="adj" fmla="val 19643"/>
            </a:avLst>
          </a:prstGeom>
          <a:solidFill>
            <a:srgbClr val="0A1019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40" name="Text 33"/>
          <p:cNvSpPr/>
          <p:nvPr/>
        </p:nvSpPr>
        <p:spPr>
          <a:xfrm>
            <a:off x="795528" y="5870448"/>
            <a:ext cx="10597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FALLBACK-SAFE   </a:t>
            </a:r>
            <a:pPr indent="0" marL="0">
              <a:buNone/>
            </a:pPr>
            <a:r>
              <a:rPr lang="en-US" sz="110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telemetry generator  ·  Local offline engine  —  the app always runs, then upgrades to live data when connections are set.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11274552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Fabric Rayfin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USAGE — AND WHY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Fabric seam earns its place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55096" cy="822960"/>
          </a:xfrm>
          <a:prstGeom prst="roundRect">
            <a:avLst>
              <a:gd name="adj" fmla="val 12222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874520"/>
            <a:ext cx="64008" cy="6400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1901952"/>
            <a:ext cx="585216" cy="585216"/>
          </a:xfrm>
          <a:prstGeom prst="ellipse">
            <a:avLst/>
          </a:prstGeom>
          <a:solidFill>
            <a:srgbClr val="1E2A38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72768" y="189280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Intelligence (Eventhouse / KQL)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72768" y="221284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telemetry backbone — live and near-real-time turbine signals stream in.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82128" y="1874520"/>
            <a:ext cx="3648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high-volume time-series at scale, queried where it lands.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697480"/>
            <a:ext cx="11055096" cy="822960"/>
          </a:xfrm>
          <a:prstGeom prst="roundRect">
            <a:avLst>
              <a:gd name="adj" fmla="val 12222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2788920"/>
            <a:ext cx="64008" cy="6400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Shape 10"/>
          <p:cNvSpPr/>
          <p:nvPr/>
        </p:nvSpPr>
        <p:spPr>
          <a:xfrm>
            <a:off x="786384" y="2816352"/>
            <a:ext cx="585216" cy="585216"/>
          </a:xfrm>
          <a:prstGeom prst="ellipse">
            <a:avLst/>
          </a:prstGeom>
          <a:solidFill>
            <a:srgbClr val="1E2A38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72768" y="280720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Model (Direct Lake / DAX)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72768" y="312724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readings into fleet KPIs and per-turbine history.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82128" y="2788920"/>
            <a:ext cx="3648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governed, reusable metrics instead of ad-hoc math in the UI.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611880"/>
            <a:ext cx="11055096" cy="822960"/>
          </a:xfrm>
          <a:prstGeom prst="roundRect">
            <a:avLst>
              <a:gd name="adj" fmla="val 12222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3703320"/>
            <a:ext cx="64008" cy="6400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" y="3730752"/>
            <a:ext cx="585216" cy="585216"/>
          </a:xfrm>
          <a:prstGeom prst="ellipse">
            <a:avLst/>
          </a:prstGeom>
          <a:solidFill>
            <a:srgbClr val="1E2A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72768" y="372160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Ontology + Graph model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72768" y="404164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twin's backbone — asset topology, component→device links, sensor thresholds.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82128" y="3703320"/>
            <a:ext cx="3648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status and relationships are grounded, not hard-coded.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526280"/>
            <a:ext cx="11055096" cy="822960"/>
          </a:xfrm>
          <a:prstGeom prst="roundRect">
            <a:avLst>
              <a:gd name="adj" fmla="val 12222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" y="4617720"/>
            <a:ext cx="64008" cy="6400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786384" y="4645152"/>
            <a:ext cx="585216" cy="585216"/>
          </a:xfrm>
          <a:prstGeom prst="ellipse">
            <a:avLst/>
          </a:prstGeom>
          <a:solidFill>
            <a:srgbClr val="1E2A38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72768" y="463600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Ontology Data Agent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72768" y="495604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Ask Fabric IQ with ontology-grounded natural-language answers.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82128" y="4617720"/>
            <a:ext cx="3648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ask in plain language, answers stay tied to real entities.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5440680"/>
            <a:ext cx="11055096" cy="822960"/>
          </a:xfrm>
          <a:prstGeom prst="roundRect">
            <a:avLst>
              <a:gd name="adj" fmla="val 12222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6928" y="5532120"/>
            <a:ext cx="64008" cy="64008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30" name="Shape 28"/>
          <p:cNvSpPr/>
          <p:nvPr/>
        </p:nvSpPr>
        <p:spPr>
          <a:xfrm>
            <a:off x="786384" y="5559552"/>
            <a:ext cx="585216" cy="585216"/>
          </a:xfrm>
          <a:prstGeom prst="ellipse">
            <a:avLst/>
          </a:prstGeom>
          <a:solidFill>
            <a:srgbClr val="1E2A38"/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72768" y="555040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TurbineDevice + writeback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72768" y="587044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the twin's device graph, notes and dispatch actions back to Fabric.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882128" y="5532120"/>
            <a:ext cx="3648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operator context and configuration survive across sessions.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274552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Fabric Rayfin</a:t>
            </a:r>
            <a:endParaRPr lang="en-US" sz="10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244" y="2065812"/>
            <a:ext cx="257495" cy="257495"/>
          </a:xfrm>
          <a:prstGeom prst="rect">
            <a:avLst/>
          </a:prstGeom>
        </p:spPr>
      </p:pic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244" y="2980212"/>
            <a:ext cx="257495" cy="257495"/>
          </a:xfrm>
          <a:prstGeom prst="rect">
            <a:avLst/>
          </a:prstGeom>
        </p:spPr>
      </p:pic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244" y="3894612"/>
            <a:ext cx="257495" cy="257495"/>
          </a:xfrm>
          <a:prstGeom prst="rect">
            <a:avLst/>
          </a:prstGeom>
        </p:spPr>
      </p:pic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244" y="4809012"/>
            <a:ext cx="257495" cy="257495"/>
          </a:xfrm>
          <a:prstGeom prst="rect">
            <a:avLst/>
          </a:prstGeom>
        </p:spPr>
      </p:pic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244" y="5723412"/>
            <a:ext cx="257495" cy="2574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PRINCIPLE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Fallback-safe by design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943600" cy="1371600"/>
          </a:xfrm>
          <a:prstGeom prst="roundRect">
            <a:avLst>
              <a:gd name="adj" fmla="val 7333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975104"/>
            <a:ext cx="64008" cy="117043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240280"/>
            <a:ext cx="640080" cy="640080"/>
          </a:xfrm>
          <a:prstGeom prst="ellipse">
            <a:avLst/>
          </a:prstGeom>
          <a:solidFill>
            <a:srgbClr val="1E2A38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419502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011680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anywhere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645920" y="2350008"/>
            <a:ext cx="47000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Fabric wiring required — the app runs on a synthetic telemetry generator out of the box.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3392424"/>
            <a:ext cx="5943600" cy="1371600"/>
          </a:xfrm>
          <a:prstGeom prst="roundRect">
            <a:avLst>
              <a:gd name="adj" fmla="val 7333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" y="3493008"/>
            <a:ext cx="64008" cy="117043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3758184"/>
            <a:ext cx="640080" cy="640080"/>
          </a:xfrm>
          <a:prstGeom prst="ellipse">
            <a:avLst/>
          </a:prstGeom>
          <a:solidFill>
            <a:srgbClr val="1E2A38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94" y="3937406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45920" y="3529584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Progressive enhancement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645920" y="3867912"/>
            <a:ext cx="47000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connection aliases and it lights up real data, live — no code changes.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66928" y="4910328"/>
            <a:ext cx="5943600" cy="1371600"/>
          </a:xfrm>
          <a:prstGeom prst="roundRect">
            <a:avLst>
              <a:gd name="adj" fmla="val 7333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6928" y="5010912"/>
            <a:ext cx="64008" cy="117043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Shape 14"/>
          <p:cNvSpPr/>
          <p:nvPr/>
        </p:nvSpPr>
        <p:spPr>
          <a:xfrm>
            <a:off x="804672" y="5276088"/>
            <a:ext cx="640080" cy="640080"/>
          </a:xfrm>
          <a:prstGeom prst="ellipse">
            <a:avLst/>
          </a:prstGeom>
          <a:solidFill>
            <a:srgbClr val="1E2A38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5455310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5047488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by default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645920" y="5385816"/>
            <a:ext cx="47000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labels the active source truthfully and flags telemetry as simulated until wired.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858000" y="1874520"/>
            <a:ext cx="4754880" cy="4480560"/>
          </a:xfrm>
          <a:prstGeom prst="roundRect">
            <a:avLst>
              <a:gd name="adj" fmla="val 2245"/>
            </a:avLst>
          </a:prstGeom>
          <a:solidFill>
            <a:srgbClr val="1E2A38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132320" y="21214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FABRIC IQ — GRACEFUL ROUTING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178040" y="2560320"/>
            <a:ext cx="4114800" cy="786384"/>
          </a:xfrm>
          <a:prstGeom prst="roundRect">
            <a:avLst>
              <a:gd name="adj" fmla="val 12791"/>
            </a:avLst>
          </a:prstGeom>
          <a:solidFill>
            <a:srgbClr val="17222E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406640" y="26791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Fabric Data Agent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7406640" y="2990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fabriciq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7178040" y="33284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7178040" y="3657600"/>
            <a:ext cx="4114800" cy="786384"/>
          </a:xfrm>
          <a:prstGeom prst="roundRect">
            <a:avLst>
              <a:gd name="adj" fmla="val 12791"/>
            </a:avLst>
          </a:prstGeom>
          <a:solidFill>
            <a:srgbClr val="17222E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7406640" y="37764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Ontology-grounded engine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7406640" y="4087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· ontology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7178040" y="44256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7178040" y="4754880"/>
            <a:ext cx="4114800" cy="786384"/>
          </a:xfrm>
          <a:prstGeom prst="roundRect">
            <a:avLst>
              <a:gd name="adj" fmla="val 12791"/>
            </a:avLst>
          </a:prstGeom>
          <a:solidFill>
            <a:srgbClr val="17222E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7406640" y="48737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engine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7406640" y="5184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· deterministic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11274552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Fabric Rayfin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DIGITAL TWIN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an ontology-grounded twin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6126480" cy="1024128"/>
          </a:xfrm>
          <a:prstGeom prst="roundRect">
            <a:avLst>
              <a:gd name="adj" fmla="val 9821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929384"/>
            <a:ext cx="64008" cy="8229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20824"/>
            <a:ext cx="640080" cy="640080"/>
          </a:xfrm>
          <a:prstGeom prst="ellipse">
            <a:avLst/>
          </a:prstGeom>
          <a:solidFill>
            <a:srgbClr val="1E2A38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200046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965960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asset topology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645920" y="2304288"/>
            <a:ext cx="4882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→ Site → Turbine → Component → Device — modelled, not guessed.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2980944"/>
            <a:ext cx="6126480" cy="1024128"/>
          </a:xfrm>
          <a:prstGeom prst="roundRect">
            <a:avLst>
              <a:gd name="adj" fmla="val 9821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" y="3081528"/>
            <a:ext cx="64008" cy="8229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3172968"/>
            <a:ext cx="640080" cy="640080"/>
          </a:xfrm>
          <a:prstGeom prst="ellipse">
            <a:avLst/>
          </a:prstGeom>
          <a:solidFill>
            <a:srgbClr val="1E2A38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94" y="3352190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45920" y="3118104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Thresholds drive status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645920" y="3456432"/>
            <a:ext cx="4882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bands from the ontology classify healthy / warning / alarm consistently.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66928" y="4133088"/>
            <a:ext cx="6126480" cy="1024128"/>
          </a:xfrm>
          <a:prstGeom prst="roundRect">
            <a:avLst>
              <a:gd name="adj" fmla="val 9821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6928" y="4233672"/>
            <a:ext cx="64008" cy="8229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Shape 14"/>
          <p:cNvSpPr/>
          <p:nvPr/>
        </p:nvSpPr>
        <p:spPr>
          <a:xfrm>
            <a:off x="804672" y="4325112"/>
            <a:ext cx="640080" cy="640080"/>
          </a:xfrm>
          <a:prstGeom prst="ellipse">
            <a:avLst/>
          </a:prstGeom>
          <a:solidFill>
            <a:srgbClr val="1E2A38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4504334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4270248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Persisted device graph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645920" y="4608576"/>
            <a:ext cx="4882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twin's second-level device graph loads from Fabric (TurbineDevice) with a bundled fallback.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66928" y="5285232"/>
            <a:ext cx="6126480" cy="1024128"/>
          </a:xfrm>
          <a:prstGeom prst="roundRect">
            <a:avLst>
              <a:gd name="adj" fmla="val 9821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66928" y="5385816"/>
            <a:ext cx="64008" cy="8229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4" name="Shape 19"/>
          <p:cNvSpPr/>
          <p:nvPr/>
        </p:nvSpPr>
        <p:spPr>
          <a:xfrm>
            <a:off x="804672" y="5477256"/>
            <a:ext cx="640080" cy="640080"/>
          </a:xfrm>
          <a:prstGeom prst="ellipse">
            <a:avLst/>
          </a:prstGeom>
          <a:solidFill>
            <a:srgbClr val="1E2A38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894" y="5656478"/>
            <a:ext cx="281635" cy="28163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45920" y="5422392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Editable in-app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1645920" y="5760720"/>
            <a:ext cx="4882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Twin Graph Admin panel lets operators tune labels, properties and camera vectors.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7040880" y="1828800"/>
            <a:ext cx="4572000" cy="4562856"/>
          </a:xfrm>
          <a:prstGeom prst="roundRect">
            <a:avLst>
              <a:gd name="adj" fmla="val 2204"/>
            </a:avLst>
          </a:prstGeom>
          <a:solidFill>
            <a:srgbClr val="1E2A38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7315200" y="20848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ONTOLOGY HIERARCHY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406640" y="2706624"/>
            <a:ext cx="219456" cy="21945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0E1621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717536" y="25603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Fleet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7516368" y="2944368"/>
            <a:ext cx="393192" cy="347472"/>
          </a:xfrm>
          <a:prstGeom prst="line">
            <a:avLst/>
          </a:prstGeom>
          <a:noFill/>
          <a:ln w="19050">
            <a:solidFill>
              <a:srgbClr val="2A3947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909560" y="3438144"/>
            <a:ext cx="219456" cy="219456"/>
          </a:xfrm>
          <a:prstGeom prst="ellipse">
            <a:avLst/>
          </a:prstGeom>
          <a:solidFill>
            <a:srgbClr val="2DD4BF"/>
          </a:solidFill>
          <a:ln w="12700">
            <a:solidFill>
              <a:srgbClr val="0E1621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8220456" y="32918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Site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8019288" y="3675888"/>
            <a:ext cx="393192" cy="347472"/>
          </a:xfrm>
          <a:prstGeom prst="line">
            <a:avLst/>
          </a:prstGeom>
          <a:noFill/>
          <a:ln w="19050">
            <a:solidFill>
              <a:srgbClr val="2A3947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8412480" y="4169664"/>
            <a:ext cx="219456" cy="21945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0E1621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8723376" y="40233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Turbine</a:t>
            </a:r>
            <a:endParaRPr lang="en-US" sz="1400" dirty="0"/>
          </a:p>
        </p:txBody>
      </p:sp>
      <p:sp>
        <p:nvSpPr>
          <p:cNvPr id="38" name="Shape 32"/>
          <p:cNvSpPr/>
          <p:nvPr/>
        </p:nvSpPr>
        <p:spPr>
          <a:xfrm>
            <a:off x="8522208" y="4407408"/>
            <a:ext cx="393192" cy="347472"/>
          </a:xfrm>
          <a:prstGeom prst="line">
            <a:avLst/>
          </a:prstGeom>
          <a:noFill/>
          <a:ln w="19050">
            <a:solidFill>
              <a:srgbClr val="2A3947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8915400" y="4901184"/>
            <a:ext cx="219456" cy="21945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0E1621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9226296" y="47548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 (rotor…)</a:t>
            </a:r>
            <a:endParaRPr lang="en-US" sz="1400" dirty="0"/>
          </a:p>
        </p:txBody>
      </p:sp>
      <p:sp>
        <p:nvSpPr>
          <p:cNvPr id="41" name="Shape 35"/>
          <p:cNvSpPr/>
          <p:nvPr/>
        </p:nvSpPr>
        <p:spPr>
          <a:xfrm>
            <a:off x="9025128" y="5138928"/>
            <a:ext cx="393192" cy="347472"/>
          </a:xfrm>
          <a:prstGeom prst="line">
            <a:avLst/>
          </a:prstGeom>
          <a:noFill/>
          <a:ln w="19050">
            <a:solidFill>
              <a:srgbClr val="2A3947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9418320" y="5632704"/>
            <a:ext cx="219456" cy="219456"/>
          </a:xfrm>
          <a:prstGeom prst="ellipse">
            <a:avLst/>
          </a:prstGeom>
          <a:solidFill>
            <a:srgbClr val="FB7185"/>
          </a:solidFill>
          <a:ln w="12700">
            <a:solidFill>
              <a:srgbClr val="0E1621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9729216" y="54864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 (pitch-control…)</a:t>
            </a:r>
            <a:endParaRPr lang="en-US" sz="1400" dirty="0"/>
          </a:p>
        </p:txBody>
      </p:sp>
      <p:sp>
        <p:nvSpPr>
          <p:cNvPr id="44" name="Text 38"/>
          <p:cNvSpPr/>
          <p:nvPr/>
        </p:nvSpPr>
        <p:spPr>
          <a:xfrm>
            <a:off x="11274552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Fabric Rayfin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FABRIC IQ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Plain-language answers, grounded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6126480" cy="1024128"/>
          </a:xfrm>
          <a:prstGeom prst="roundRect">
            <a:avLst>
              <a:gd name="adj" fmla="val 9821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929384"/>
            <a:ext cx="64008" cy="8229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20824"/>
            <a:ext cx="640080" cy="640080"/>
          </a:xfrm>
          <a:prstGeom prst="ellipse">
            <a:avLst/>
          </a:prstGeom>
          <a:solidFill>
            <a:srgbClr val="1E2A38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200046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965960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 language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645920" y="2304288"/>
            <a:ext cx="4882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output, alarms, vibration, wind or dispatch notes — no query language.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2980944"/>
            <a:ext cx="6126480" cy="1024128"/>
          </a:xfrm>
          <a:prstGeom prst="roundRect">
            <a:avLst>
              <a:gd name="adj" fmla="val 9821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" y="3081528"/>
            <a:ext cx="64008" cy="8229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3172968"/>
            <a:ext cx="640080" cy="640080"/>
          </a:xfrm>
          <a:prstGeom prst="ellipse">
            <a:avLst/>
          </a:prstGeom>
          <a:solidFill>
            <a:srgbClr val="1E2A38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94" y="3352190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45920" y="3118104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Grounded in the ontology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645920" y="3456432"/>
            <a:ext cx="4882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stay tied to real turbines, sites and thresholds — not free-form guesses.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66928" y="4133088"/>
            <a:ext cx="6126480" cy="1024128"/>
          </a:xfrm>
          <a:prstGeom prst="roundRect">
            <a:avLst>
              <a:gd name="adj" fmla="val 9821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6928" y="4233672"/>
            <a:ext cx="64008" cy="8229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Shape 14"/>
          <p:cNvSpPr/>
          <p:nvPr/>
        </p:nvSpPr>
        <p:spPr>
          <a:xfrm>
            <a:off x="804672" y="4325112"/>
            <a:ext cx="640080" cy="640080"/>
          </a:xfrm>
          <a:prstGeom prst="ellipse">
            <a:avLst/>
          </a:prstGeom>
          <a:solidFill>
            <a:srgbClr val="1E2A38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4504334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4270248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Generates a visual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645920" y="4608576"/>
            <a:ext cx="4882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answer ships a fleet-health snapshot so the number has instant context.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66928" y="5285232"/>
            <a:ext cx="6126480" cy="1024128"/>
          </a:xfrm>
          <a:prstGeom prst="roundRect">
            <a:avLst>
              <a:gd name="adj" fmla="val 9821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66928" y="5385816"/>
            <a:ext cx="64008" cy="8229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4" name="Shape 19"/>
          <p:cNvSpPr/>
          <p:nvPr/>
        </p:nvSpPr>
        <p:spPr>
          <a:xfrm>
            <a:off x="804672" y="5477256"/>
            <a:ext cx="640080" cy="640080"/>
          </a:xfrm>
          <a:prstGeom prst="ellipse">
            <a:avLst/>
          </a:prstGeom>
          <a:solidFill>
            <a:srgbClr val="1E2A38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894" y="5656478"/>
            <a:ext cx="281635" cy="28163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45920" y="5422392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Graceful routing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1645920" y="5760720"/>
            <a:ext cx="4882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Agent → ontology engine → local — always answers, always honest about the source.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7040880" y="1828800"/>
            <a:ext cx="4572000" cy="4562856"/>
          </a:xfrm>
          <a:prstGeom prst="roundRect">
            <a:avLst>
              <a:gd name="adj" fmla="val 2204"/>
            </a:avLst>
          </a:prstGeom>
          <a:solidFill>
            <a:srgbClr val="1E2A38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315200" y="2084832"/>
            <a:ext cx="502920" cy="502920"/>
          </a:xfrm>
          <a:prstGeom prst="ellipse">
            <a:avLst/>
          </a:prstGeom>
          <a:solidFill>
            <a:srgbClr val="1E2A38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018" y="2225650"/>
            <a:ext cx="221285" cy="22128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95528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500" dirty="0"/>
          </a:p>
        </p:txBody>
      </p:sp>
      <p:sp>
        <p:nvSpPr>
          <p:cNvPr id="32" name="Shape 25"/>
          <p:cNvSpPr/>
          <p:nvPr/>
        </p:nvSpPr>
        <p:spPr>
          <a:xfrm>
            <a:off x="10195560" y="2139696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1E2A38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10268712" y="2139696"/>
            <a:ext cx="99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98% sure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7315200" y="27432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turbines in alarm: SITE-TX-WT-05, SITE-DK-WT-03, SITE-DK-WT-04, SITE-IN-WT-07. 14 in warning.</a:t>
            </a: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7315200" y="37490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7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FLEET SNAPSHOT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7315200" y="4023360"/>
            <a:ext cx="2494483" cy="25603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7" name="Shape 30"/>
          <p:cNvSpPr/>
          <p:nvPr/>
        </p:nvSpPr>
        <p:spPr>
          <a:xfrm>
            <a:off x="9809683" y="4023360"/>
            <a:ext cx="1046074" cy="25603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8" name="Shape 31"/>
          <p:cNvSpPr/>
          <p:nvPr/>
        </p:nvSpPr>
        <p:spPr>
          <a:xfrm>
            <a:off x="10855757" y="4023360"/>
            <a:ext cx="482803" cy="256032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39" name="Text 32"/>
          <p:cNvSpPr/>
          <p:nvPr/>
        </p:nvSpPr>
        <p:spPr>
          <a:xfrm>
            <a:off x="7315200" y="4343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healthy  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warning   </a:t>
            </a:r>
            <a:pPr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alarm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7315200" y="489204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1E2A38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7388352" y="489204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📄 Mission report</a:t>
            </a:r>
            <a:endParaRPr lang="en-US" sz="1250" dirty="0"/>
          </a:p>
        </p:txBody>
      </p:sp>
      <p:sp>
        <p:nvSpPr>
          <p:cNvPr id="42" name="Shape 35"/>
          <p:cNvSpPr/>
          <p:nvPr/>
        </p:nvSpPr>
        <p:spPr>
          <a:xfrm>
            <a:off x="9372600" y="489204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1E2A3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9445752" y="489204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Go to Analytics</a:t>
            </a:r>
            <a:endParaRPr lang="en-US" sz="1250" dirty="0"/>
          </a:p>
        </p:txBody>
      </p:sp>
      <p:sp>
        <p:nvSpPr>
          <p:cNvPr id="44" name="Text 37"/>
          <p:cNvSpPr/>
          <p:nvPr/>
        </p:nvSpPr>
        <p:spPr>
          <a:xfrm>
            <a:off x="7315200" y="5486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next steps appear as soon as an answer exists.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11274552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000" dirty="0"/>
          </a:p>
        </p:txBody>
      </p:sp>
      <p:sp>
        <p:nvSpPr>
          <p:cNvPr id="46" name="Text 39"/>
          <p:cNvSpPr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Fabric Rayfin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GUIDED DEMO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incident, detection to resolution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558034" cy="1554480"/>
          </a:xfrm>
          <a:prstGeom prst="roundRect">
            <a:avLst>
              <a:gd name="adj" fmla="val 6471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2048256"/>
            <a:ext cx="566928" cy="566928"/>
          </a:xfrm>
          <a:prstGeom prst="ellipse">
            <a:avLst/>
          </a:prstGeom>
          <a:solidFill>
            <a:srgbClr val="1E2A38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048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81328" y="2084832"/>
            <a:ext cx="15521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20459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incident auto-framed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99282" y="1828800"/>
            <a:ext cx="2558034" cy="1554480"/>
          </a:xfrm>
          <a:prstGeom prst="roundRect">
            <a:avLst>
              <a:gd name="adj" fmla="val 6471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8738" y="2048256"/>
            <a:ext cx="566928" cy="566928"/>
          </a:xfrm>
          <a:prstGeom prst="ellipse">
            <a:avLst/>
          </a:prstGeom>
          <a:solidFill>
            <a:srgbClr val="1E2A38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8738" y="2048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13682" y="2084832"/>
            <a:ext cx="15521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5314" y="2743200"/>
            <a:ext cx="20459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map to the site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1636" y="1828800"/>
            <a:ext cx="2558034" cy="1554480"/>
          </a:xfrm>
          <a:prstGeom prst="roundRect">
            <a:avLst>
              <a:gd name="adj" fmla="val 6471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51092" y="2048256"/>
            <a:ext cx="566928" cy="566928"/>
          </a:xfrm>
          <a:prstGeom prst="ellipse">
            <a:avLst/>
          </a:prstGeom>
          <a:solidFill>
            <a:srgbClr val="1E2A38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1092" y="2048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146036" y="2084832"/>
            <a:ext cx="15521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87668" y="2743200"/>
            <a:ext cx="20459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rotor → device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63990" y="1828800"/>
            <a:ext cx="2558034" cy="1554480"/>
          </a:xfrm>
          <a:prstGeom prst="roundRect">
            <a:avLst>
              <a:gd name="adj" fmla="val 6471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83446" y="2048256"/>
            <a:ext cx="566928" cy="566928"/>
          </a:xfrm>
          <a:prstGeom prst="ellipse">
            <a:avLst/>
          </a:prstGeom>
          <a:solidFill>
            <a:srgbClr val="1E2A38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3446" y="2048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978390" y="2084832"/>
            <a:ext cx="15521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20022" y="2743200"/>
            <a:ext cx="20459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related nodes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3639312"/>
            <a:ext cx="2558034" cy="1554480"/>
          </a:xfrm>
          <a:prstGeom prst="roundRect">
            <a:avLst>
              <a:gd name="adj" fmla="val 6471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6384" y="3858768"/>
            <a:ext cx="566928" cy="566928"/>
          </a:xfrm>
          <a:prstGeom prst="ellipse">
            <a:avLst/>
          </a:prstGeom>
          <a:solidFill>
            <a:srgbClr val="1E2A38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" y="3858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81328" y="3895344"/>
            <a:ext cx="15521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Dispatch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2960" y="4553712"/>
            <a:ext cx="20459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&amp; raise work order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99282" y="3639312"/>
            <a:ext cx="2558034" cy="1554480"/>
          </a:xfrm>
          <a:prstGeom prst="roundRect">
            <a:avLst>
              <a:gd name="adj" fmla="val 6471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18738" y="3858768"/>
            <a:ext cx="566928" cy="566928"/>
          </a:xfrm>
          <a:prstGeom prst="ellipse">
            <a:avLst/>
          </a:prstGeom>
          <a:solidFill>
            <a:srgbClr val="1E2A38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8738" y="3858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313682" y="3895344"/>
            <a:ext cx="15521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655314" y="4553712"/>
            <a:ext cx="20459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field &amp; close loop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31636" y="3639312"/>
            <a:ext cx="2558034" cy="1554480"/>
          </a:xfrm>
          <a:prstGeom prst="roundRect">
            <a:avLst>
              <a:gd name="adj" fmla="val 6471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51092" y="3858768"/>
            <a:ext cx="566928" cy="566928"/>
          </a:xfrm>
          <a:prstGeom prst="ellipse">
            <a:avLst/>
          </a:prstGeom>
          <a:solidFill>
            <a:srgbClr val="1E2A38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51092" y="3858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146036" y="3895344"/>
            <a:ext cx="15521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IQ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87668" y="4553712"/>
            <a:ext cx="20459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in plain language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063990" y="3639312"/>
            <a:ext cx="2558034" cy="1554480"/>
          </a:xfrm>
          <a:prstGeom prst="roundRect">
            <a:avLst>
              <a:gd name="adj" fmla="val 6471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283446" y="3858768"/>
            <a:ext cx="566928" cy="566928"/>
          </a:xfrm>
          <a:prstGeom prst="ellipse">
            <a:avLst/>
          </a:prstGeom>
          <a:solidFill>
            <a:srgbClr val="1E2A38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83446" y="3858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9978390" y="3895344"/>
            <a:ext cx="15521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320022" y="4553712"/>
            <a:ext cx="20459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→ mission report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66928" y="5440680"/>
            <a:ext cx="11055096" cy="960120"/>
          </a:xfrm>
          <a:prstGeom prst="roundRect">
            <a:avLst>
              <a:gd name="adj" fmla="val 10476"/>
            </a:avLst>
          </a:prstGeom>
          <a:solidFill>
            <a:srgbClr val="1E2A38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66928" y="5541264"/>
            <a:ext cx="27637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~92 s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566928" y="5998464"/>
            <a:ext cx="27637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run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3330702" y="5541264"/>
            <a:ext cx="27637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3330702" y="5998464"/>
            <a:ext cx="27637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steps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094476" y="5541264"/>
            <a:ext cx="27637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/ Action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6094476" y="5998464"/>
            <a:ext cx="27637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 per page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858250" y="5541264"/>
            <a:ext cx="27637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Mission report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8858250" y="5998464"/>
            <a:ext cx="27637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finale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11274552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Fabric Rayfin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REUSABLE PATTERN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engine, many industries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guided script and backend seams are data-driven from a per-domain manifest — the same Rayfin engine powers each variant with its own nouns, components and evidence.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3471672" cy="3566160"/>
          </a:xfrm>
          <a:prstGeom prst="roundRect">
            <a:avLst>
              <a:gd name="adj" fmla="val 2897"/>
            </a:avLst>
          </a:prstGeom>
          <a:solidFill>
            <a:srgbClr val="1E2A38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331720"/>
            <a:ext cx="3471672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1891284" y="2697480"/>
            <a:ext cx="822960" cy="822960"/>
          </a:xfrm>
          <a:prstGeom prst="ellipse">
            <a:avLst/>
          </a:prstGeom>
          <a:solidFill>
            <a:srgbClr val="1E2A38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1713" y="292790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3630168"/>
            <a:ext cx="310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 Turbine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49808" y="3995928"/>
            <a:ext cx="3105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multi-site wind fleet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50976" y="4526280"/>
            <a:ext cx="2831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7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Gearbox · Generator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7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WindTurbine ontology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7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58640" y="2331720"/>
            <a:ext cx="3471672" cy="3566160"/>
          </a:xfrm>
          <a:prstGeom prst="roundRect">
            <a:avLst>
              <a:gd name="adj" fmla="val 2897"/>
            </a:avLst>
          </a:prstGeom>
          <a:solidFill>
            <a:srgbClr val="1E2A38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58640" y="2331720"/>
            <a:ext cx="3471672" cy="10972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Shape 11"/>
          <p:cNvSpPr/>
          <p:nvPr/>
        </p:nvSpPr>
        <p:spPr>
          <a:xfrm>
            <a:off x="5682996" y="2697480"/>
            <a:ext cx="822960" cy="822960"/>
          </a:xfrm>
          <a:prstGeom prst="ellipse">
            <a:avLst/>
          </a:prstGeom>
          <a:solidFill>
            <a:srgbClr val="1E2A38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425" y="2927909"/>
            <a:ext cx="362102" cy="36210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41520" y="3630168"/>
            <a:ext cx="310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Farm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541520" y="3995928"/>
            <a:ext cx="3105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PV plants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742688" y="4526280"/>
            <a:ext cx="2831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7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Inverter · Combiner · Tracker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7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SolarFarm ontology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7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solar-france-rayfin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150352" y="2331720"/>
            <a:ext cx="3471672" cy="3566160"/>
          </a:xfrm>
          <a:prstGeom prst="roundRect">
            <a:avLst>
              <a:gd name="adj" fmla="val 2897"/>
            </a:avLst>
          </a:prstGeom>
          <a:solidFill>
            <a:srgbClr val="1E2A38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150352" y="2331720"/>
            <a:ext cx="3471672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1" name="Shape 17"/>
          <p:cNvSpPr/>
          <p:nvPr/>
        </p:nvSpPr>
        <p:spPr>
          <a:xfrm>
            <a:off x="9474708" y="2697480"/>
            <a:ext cx="822960" cy="822960"/>
          </a:xfrm>
          <a:prstGeom prst="ellipse">
            <a:avLst/>
          </a:prstGeom>
          <a:solidFill>
            <a:srgbClr val="1E2A38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137" y="2927909"/>
            <a:ext cx="362102" cy="36210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33232" y="3630168"/>
            <a:ext cx="310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Oil &amp; Gas Refinery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8333232" y="3995928"/>
            <a:ext cx="3105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process units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8534400" y="4526280"/>
            <a:ext cx="2831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7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· Compressor · Exchanger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7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OilGasRefinery ontology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7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refinery-worldwide-rayfin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11274552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Fabric Rayfin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4572000" cy="4572000"/>
          </a:xfrm>
          <a:prstGeom prst="ellipse">
            <a:avLst/>
          </a:prstGeom>
          <a:solidFill>
            <a:srgbClr val="22D3E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telemetry to decisions — faster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5367528" cy="1417320"/>
          </a:xfrm>
          <a:prstGeom prst="roundRect">
            <a:avLst>
              <a:gd name="adj" fmla="val 7097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066544"/>
            <a:ext cx="64008" cy="1216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354580"/>
            <a:ext cx="640080" cy="640080"/>
          </a:xfrm>
          <a:prstGeom prst="ellipse">
            <a:avLst/>
          </a:prstGeom>
          <a:solidFill>
            <a:srgbClr val="1E2A38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533802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103120"/>
            <a:ext cx="4123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 triage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645920" y="2441448"/>
            <a:ext cx="41239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grounded view collapses tool-switching into a single guided flow.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54496" y="1965960"/>
            <a:ext cx="5367528" cy="1417320"/>
          </a:xfrm>
          <a:prstGeom prst="roundRect">
            <a:avLst>
              <a:gd name="adj" fmla="val 7097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54496" y="2066544"/>
            <a:ext cx="64008" cy="1216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3" name="Shape 10"/>
          <p:cNvSpPr/>
          <p:nvPr/>
        </p:nvSpPr>
        <p:spPr>
          <a:xfrm>
            <a:off x="6492240" y="2354580"/>
            <a:ext cx="640080" cy="640080"/>
          </a:xfrm>
          <a:prstGeom prst="ellipse">
            <a:avLst/>
          </a:prstGeom>
          <a:solidFill>
            <a:srgbClr val="1E2A38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462" y="2533802"/>
            <a:ext cx="281635" cy="28163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33488" y="2103120"/>
            <a:ext cx="4123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Consistent dispatch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7333488" y="2441448"/>
            <a:ext cx="41239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technician, matched on skills, site and load — with evidence.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66928" y="3657600"/>
            <a:ext cx="5367528" cy="1417320"/>
          </a:xfrm>
          <a:prstGeom prst="roundRect">
            <a:avLst>
              <a:gd name="adj" fmla="val 7097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66928" y="3758184"/>
            <a:ext cx="64008" cy="1216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9" name="Shape 15"/>
          <p:cNvSpPr/>
          <p:nvPr/>
        </p:nvSpPr>
        <p:spPr>
          <a:xfrm>
            <a:off x="804672" y="4046220"/>
            <a:ext cx="640080" cy="640080"/>
          </a:xfrm>
          <a:prstGeom prst="ellipse">
            <a:avLst/>
          </a:prstGeom>
          <a:solidFill>
            <a:srgbClr val="1E2A38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4225442"/>
            <a:ext cx="281635" cy="28163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45920" y="3794760"/>
            <a:ext cx="4123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&amp; handoff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1645920" y="4133088"/>
            <a:ext cx="41239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compiles an exportable mission report with a full timeline.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254496" y="3657600"/>
            <a:ext cx="5367528" cy="1417320"/>
          </a:xfrm>
          <a:prstGeom prst="roundRect">
            <a:avLst>
              <a:gd name="adj" fmla="val 7097"/>
            </a:avLst>
          </a:prstGeom>
          <a:solidFill>
            <a:srgbClr val="17222E"/>
          </a:solidFill>
          <a:ln w="12700">
            <a:solidFill>
              <a:srgbClr val="2A394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254496" y="3758184"/>
            <a:ext cx="64008" cy="12161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5" name="Shape 20"/>
          <p:cNvSpPr/>
          <p:nvPr/>
        </p:nvSpPr>
        <p:spPr>
          <a:xfrm>
            <a:off x="6492240" y="4046220"/>
            <a:ext cx="640080" cy="640080"/>
          </a:xfrm>
          <a:prstGeom prst="ellipse">
            <a:avLst/>
          </a:prstGeom>
          <a:solidFill>
            <a:srgbClr val="1E2A38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462" y="4225442"/>
            <a:ext cx="281635" cy="28163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33488" y="3794760"/>
            <a:ext cx="4123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Reusable template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7333488" y="4133088"/>
            <a:ext cx="41239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new industry variants from the same engine and manifest.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66928" y="5257800"/>
            <a:ext cx="11055096" cy="1051560"/>
          </a:xfrm>
          <a:prstGeom prst="roundRect">
            <a:avLst>
              <a:gd name="adj" fmla="val 9565"/>
            </a:avLst>
          </a:prstGeom>
          <a:solidFill>
            <a:srgbClr val="1E2A38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8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932688" y="5440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Ontology-grounded. Fabric-native. Fallback-safe.</a:t>
            </a:r>
            <a:endParaRPr lang="en-US" sz="2000" dirty="0"/>
          </a:p>
        </p:txBody>
      </p:sp>
      <p:sp>
        <p:nvSpPr>
          <p:cNvPr id="31" name="Text 25"/>
          <p:cNvSpPr/>
          <p:nvPr/>
        </p:nvSpPr>
        <p:spPr>
          <a:xfrm>
            <a:off x="932688" y="5870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apps/wind-turbine-rayfin  ·  built on Fabric Rayfin (React 19 · Vite · Three.js · Vitest)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11274552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6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Fabric Rayfin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Fabric Rayfin — Geo Wind Twin Command Center</dc:title>
  <dc:subject>PptxGenJS Presentation</dc:subject>
  <dc:creator>Fabric Rayfin</dc:creator>
  <cp:lastModifiedBy>Fabric Rayfin</cp:lastModifiedBy>
  <cp:revision>1</cp:revision>
  <dcterms:created xsi:type="dcterms:W3CDTF">2026-07-17T12:17:52Z</dcterms:created>
  <dcterms:modified xsi:type="dcterms:W3CDTF">2026-07-17T12:17:52Z</dcterms:modified>
</cp:coreProperties>
</file>